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7315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>
                <a:solidFill>
                  <a:srgbClr val="121212"/>
                </a:solidFill>
                <a:latin typeface="Arial"/>
              </a:rPr>
              <a:t>SEGMENTACIÓN AUTOMÁTICA DE COLUMNA VERTEBRAL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46920" y="73152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00" b="0">
                <a:solidFill>
                  <a:srgbClr val="5B626A"/>
                </a:solidFill>
                <a:latin typeface="Arial"/>
              </a:rPr>
              <a:t>REFUERZO METODOLÓGICO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219456" y="310896"/>
            <a:ext cx="11521440" cy="27432"/>
          </a:xfrm>
          <a:prstGeom prst="rect">
            <a:avLst/>
          </a:prstGeom>
          <a:solidFill>
            <a:srgbClr val="F6D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631168" y="82296"/>
            <a:ext cx="256032" cy="256032"/>
          </a:xfrm>
          <a:prstGeom prst="ellipse">
            <a:avLst/>
          </a:prstGeom>
          <a:solidFill>
            <a:srgbClr val="F6D745"/>
          </a:solidFill>
          <a:ln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72316" y="109728"/>
            <a:ext cx="1828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21212"/>
                </a:solidFill>
                <a:latin typeface="Arial Narrow"/>
              </a:rPr>
              <a:t>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" y="6537960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50" b="0">
                <a:solidFill>
                  <a:srgbClr val="5B626A"/>
                </a:solidFill>
                <a:latin typeface="Arial"/>
              </a:rPr>
              <a:t>Universidad de los Andes, Bogotá | MAIA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6537960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50" b="0">
                <a:solidFill>
                  <a:srgbClr val="5B626A"/>
                </a:solidFill>
                <a:latin typeface="Arial"/>
              </a:rPr>
              <a:t>Fuente: MAIA-ESCOLEOSIS_CORREGIDO.pdf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6382512"/>
            <a:ext cx="11521440" cy="914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56692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121212"/>
                </a:solidFill>
                <a:latin typeface="Arial Narrow"/>
              </a:rPr>
              <a:t>Ablación y decisión metodológica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1170432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5B626A"/>
                </a:solidFill>
                <a:latin typeface="Arial"/>
              </a:rPr>
              <a:t>EL ENFOQUE HÍBRIDO SURGE DE EVIDENCIA EXPERIMENTAL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703320" y="2779776"/>
            <a:ext cx="685800" cy="0"/>
          </a:xfrm>
          <a:prstGeom prst="line">
            <a:avLst/>
          </a:prstGeom>
          <a:ln w="1778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543800" y="2779776"/>
            <a:ext cx="685800" cy="0"/>
          </a:xfrm>
          <a:prstGeom prst="line">
            <a:avLst/>
          </a:prstGeom>
          <a:ln w="1778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40080" y="1783080"/>
            <a:ext cx="2926080" cy="2103120"/>
          </a:xfrm>
          <a:prstGeom prst="roundRect">
            <a:avLst/>
          </a:prstGeom>
          <a:solidFill>
            <a:srgbClr val="F2F3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91440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2A3A48"/>
                </a:solidFill>
                <a:latin typeface="Arial"/>
              </a:rPr>
              <a:t>1. Hallazgo inicial</a:t>
            </a:r>
          </a:p>
          <a:p>
            <a:pPr>
              <a:lnSpc>
                <a:spcPct val="105000"/>
              </a:lnSpc>
              <a:defRPr sz="1250">
                <a:solidFill>
                  <a:srgbClr val="121212"/>
                </a:solidFill>
                <a:latin typeface="Arial"/>
              </a:defRPr>
            </a:pPr>
            <a:r>
              <a:t>El análisis estadístico, TDA y manifold learning evidenció heterogeneidad y patrones geométricos, pero no resolvía por sí solo la segmentación anatómica.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80" y="1783080"/>
            <a:ext cx="2834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91440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28785F"/>
                </a:solidFill>
                <a:latin typeface="Arial"/>
              </a:rPr>
              <a:t>2. Prueba de representación</a:t>
            </a:r>
          </a:p>
          <a:p>
            <a:pPr>
              <a:lnSpc>
                <a:spcPct val="105000"/>
              </a:lnSpc>
              <a:defRPr sz="1250">
                <a:solidFill>
                  <a:srgbClr val="121212"/>
                </a:solidFill>
                <a:latin typeface="Arial"/>
              </a:defRPr>
            </a:pPr>
            <a:r>
              <a:t>Los filtros y canales geométricos aportaron bordes, orientación, distancia y continuidad local alrededor de la curva vertebral.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1783080"/>
            <a:ext cx="2971800" cy="2103120"/>
          </a:xfrm>
          <a:prstGeom prst="roundRect">
            <a:avLst/>
          </a:prstGeom>
          <a:solidFill>
            <a:srgbClr val="FFF5A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91440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21212"/>
                </a:solidFill>
                <a:latin typeface="Arial"/>
              </a:rPr>
              <a:t>3. Decisión final</a:t>
            </a:r>
          </a:p>
          <a:p>
            <a:pPr>
              <a:lnSpc>
                <a:spcPct val="105000"/>
              </a:lnSpc>
              <a:defRPr sz="1250">
                <a:solidFill>
                  <a:srgbClr val="121212"/>
                </a:solidFill>
                <a:latin typeface="Arial"/>
              </a:defRPr>
            </a:pPr>
            <a:r>
              <a:t>Integrar CNN + geometría + TDA como pipeline complementario: la CNN aprende patrones visuales y la geometría conserva el orden anatómico.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343400"/>
            <a:ext cx="2194560" cy="292608"/>
          </a:xfrm>
          <a:prstGeom prst="rect">
            <a:avLst/>
          </a:prstGeom>
          <a:solidFill>
            <a:srgbClr val="F6D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Conclusión metodológica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718304"/>
            <a:ext cx="106527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21212"/>
                </a:solidFill>
                <a:latin typeface="Arial"/>
              </a:rPr>
              <a:t>La segmentación se fortalece al combinar aprendizaje visual con restricciones anatómicas explícitas: curva central, región tubular, parches indexados, canales geométricos y reconstrucción espacial.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715000"/>
            <a:ext cx="10241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5B626A"/>
                </a:solidFill>
                <a:latin typeface="Arial"/>
              </a:rPr>
              <a:t>Mensaje para defensa: la arquitectura no fue elegida arbitrariamente; responde a las limitaciones observadas en el dataset y en las representaciones aisladas.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7315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>
                <a:solidFill>
                  <a:srgbClr val="121212"/>
                </a:solidFill>
                <a:latin typeface="Arial"/>
              </a:rPr>
              <a:t>SEGMENTACIÓN AUTOMÁTICA DE COLUMNA VERTEBRAL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46920" y="73152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00" b="0">
                <a:solidFill>
                  <a:srgbClr val="5B626A"/>
                </a:solidFill>
                <a:latin typeface="Arial"/>
              </a:rPr>
              <a:t>ALCANCE Y DEFENSA</a:t>
            </a:r>
          </a:p>
        </p:txBody>
      </p:sp>
      <p:sp>
        <p:nvSpPr>
          <p:cNvPr id="4" name="Rectangle 3"/>
          <p:cNvSpPr/>
          <p:nvPr/>
        </p:nvSpPr>
        <p:spPr>
          <a:xfrm>
            <a:off x="219456" y="310896"/>
            <a:ext cx="11521440" cy="27432"/>
          </a:xfrm>
          <a:prstGeom prst="rect">
            <a:avLst/>
          </a:prstGeom>
          <a:solidFill>
            <a:srgbClr val="F6D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631168" y="82296"/>
            <a:ext cx="256032" cy="256032"/>
          </a:xfrm>
          <a:prstGeom prst="ellipse">
            <a:avLst/>
          </a:prstGeom>
          <a:solidFill>
            <a:srgbClr val="F6D745"/>
          </a:solidFill>
          <a:ln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72316" y="109728"/>
            <a:ext cx="1828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21212"/>
                </a:solidFill>
                <a:latin typeface="Arial Narrow"/>
              </a:rPr>
              <a:t>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" y="6537960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50" b="0">
                <a:solidFill>
                  <a:srgbClr val="5B626A"/>
                </a:solidFill>
                <a:latin typeface="Arial"/>
              </a:rPr>
              <a:t>Universidad de los Andes, Bogotá | MAIA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6537960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50" b="0">
                <a:solidFill>
                  <a:srgbClr val="5B626A"/>
                </a:solidFill>
                <a:latin typeface="Arial"/>
              </a:rPr>
              <a:t>Fuente: MAIA-ESCOLEOSIS_CORREGIDO.pdf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6382512"/>
            <a:ext cx="11521440" cy="914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56692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121212"/>
                </a:solidFill>
                <a:latin typeface="Arial Narrow"/>
              </a:rPr>
              <a:t>Limitaciones y mensaje clave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1170432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5B626A"/>
                </a:solidFill>
                <a:latin typeface="Arial"/>
              </a:rPr>
              <a:t>EL MODELO ES UNA REPRESENTACIÓN ESTRUCTURADA, NO UNA SOLUCIÓN CLÍNICA FINAL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737360"/>
            <a:ext cx="5166360" cy="3337560"/>
          </a:xfrm>
          <a:prstGeom prst="roundRect">
            <a:avLst/>
          </a:prstGeom>
          <a:solidFill>
            <a:srgbClr val="F2F3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64592" tIns="146304" bIns="109728"/>
          <a:lstStyle/>
          <a:p>
            <a:pPr algn="ctr">
              <a:defRPr sz="1800" b="1">
                <a:solidFill>
                  <a:srgbClr val="974141"/>
                </a:solidFill>
                <a:latin typeface="Arial"/>
              </a:defRPr>
            </a:pPr>
            <a:r>
              <a:t>Limitaciones actuales</a:t>
            </a:r>
          </a:p>
          <a:p>
            <a:pPr>
              <a:spcBef>
                <a:spcPts val="500"/>
              </a:spcBef>
              <a:defRPr sz="1320">
                <a:solidFill>
                  <a:srgbClr val="121212"/>
                </a:solidFill>
                <a:latin typeface="Arial"/>
              </a:defRPr>
            </a:pPr>
            <a:r>
              <a:t>• Dataset pequeño y heterogéneo.</a:t>
            </a:r>
          </a:p>
          <a:p>
            <a:pPr>
              <a:spcBef>
                <a:spcPts val="500"/>
              </a:spcBef>
              <a:defRPr sz="1320">
                <a:solidFill>
                  <a:srgbClr val="121212"/>
                </a:solidFill>
                <a:latin typeface="Arial"/>
              </a:defRPr>
            </a:pPr>
            <a:r>
              <a:t>• La segmentación binaria es más estable que la regional multiclase.</a:t>
            </a:r>
          </a:p>
          <a:p>
            <a:pPr>
              <a:spcBef>
                <a:spcPts val="500"/>
              </a:spcBef>
              <a:defRPr sz="1320">
                <a:solidFill>
                  <a:srgbClr val="121212"/>
                </a:solidFill>
                <a:latin typeface="Arial"/>
              </a:defRPr>
            </a:pPr>
            <a:r>
              <a:t>• La separación fina entre vértebras aún requiere refinamiento.</a:t>
            </a:r>
          </a:p>
          <a:p>
            <a:pPr>
              <a:spcBef>
                <a:spcPts val="500"/>
              </a:spcBef>
              <a:defRPr sz="1320">
                <a:solidFill>
                  <a:srgbClr val="121212"/>
                </a:solidFill>
                <a:latin typeface="Arial"/>
              </a:defRPr>
            </a:pPr>
            <a:r>
              <a:t>• Falta validación clínica externa y conexión robusta con Cobb.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737360"/>
            <a:ext cx="5166360" cy="3337560"/>
          </a:xfrm>
          <a:prstGeom prst="roundRect">
            <a:avLst/>
          </a:prstGeom>
          <a:solidFill>
            <a:srgbClr val="FFF5A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64592" tIns="146304" bIns="109728"/>
          <a:lstStyle/>
          <a:p>
            <a:pPr algn="ctr">
              <a:defRPr sz="1800" b="1">
                <a:solidFill>
                  <a:srgbClr val="121212"/>
                </a:solidFill>
                <a:latin typeface="Arial"/>
              </a:defRPr>
            </a:pPr>
            <a:r>
              <a:t>Mensaje clave</a:t>
            </a:r>
          </a:p>
          <a:p>
            <a:pPr>
              <a:spcBef>
                <a:spcPts val="500"/>
              </a:spcBef>
              <a:defRPr sz="1320">
                <a:solidFill>
                  <a:srgbClr val="121212"/>
                </a:solidFill>
                <a:latin typeface="Arial"/>
              </a:defRPr>
            </a:pPr>
            <a:r>
              <a:t>• La salida no es solo una máscara visual.</a:t>
            </a:r>
          </a:p>
          <a:p>
            <a:pPr>
              <a:spcBef>
                <a:spcPts val="500"/>
              </a:spcBef>
              <a:defRPr sz="1320">
                <a:solidFill>
                  <a:srgbClr val="121212"/>
                </a:solidFill>
                <a:latin typeface="Arial"/>
              </a:defRPr>
            </a:pPr>
            <a:r>
              <a:t>• Reconstruye una columna ordenada por regiones.</a:t>
            </a:r>
          </a:p>
          <a:p>
            <a:pPr>
              <a:spcBef>
                <a:spcPts val="500"/>
              </a:spcBef>
              <a:defRPr sz="1320">
                <a:solidFill>
                  <a:srgbClr val="121212"/>
                </a:solidFill>
                <a:latin typeface="Arial"/>
              </a:defRPr>
            </a:pPr>
            <a:r>
              <a:t>• Genera vectores regionales para clustering y TDA.</a:t>
            </a:r>
          </a:p>
          <a:p>
            <a:pPr>
              <a:spcBef>
                <a:spcPts val="500"/>
              </a:spcBef>
              <a:defRPr sz="1320">
                <a:solidFill>
                  <a:srgbClr val="121212"/>
                </a:solidFill>
                <a:latin typeface="Arial"/>
              </a:defRPr>
            </a:pPr>
            <a:r>
              <a:t>• Permite estudiar zonas asociadas con deformidad escoliótica.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25312" y="3246120"/>
            <a:ext cx="365760" cy="0"/>
          </a:xfrm>
          <a:prstGeom prst="line">
            <a:avLst/>
          </a:prstGeom>
          <a:ln w="1778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58368" y="5413248"/>
            <a:ext cx="2331720" cy="292608"/>
          </a:xfrm>
          <a:prstGeom prst="rect">
            <a:avLst/>
          </a:prstGeom>
          <a:solidFill>
            <a:srgbClr val="F6D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Frase de cierre sugerida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779008"/>
            <a:ext cx="10469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121212"/>
                </a:solidFill>
                <a:latin typeface="Arial"/>
              </a:rPr>
              <a:t>El aporte principal es convertir radiografías heterogéneas en una representación anatómica, geométrica y topológica que puede analizarse regionalmente.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